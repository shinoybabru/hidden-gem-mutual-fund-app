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bubble3D val="0"/>
            <c:spPr>
              <a:solidFill>
                <a:srgbClr val="2F6B4F"/>
              </a:solidFill>
              <a:effectLst/>
            </c:spPr>
          </c:dPt>
          <c:dPt>
            <c:idx val="2"/>
            <c:bubble3D val="0"/>
            <c:spPr>
              <a:solidFill>
                <a:srgbClr val="8FBC94"/>
              </a:solidFill>
              <a:effectLst/>
            </c:spPr>
          </c:dPt>
          <c:dPt>
            <c:idx val="3"/>
            <c:bubble3D val="0"/>
            <c:spPr>
              <a:solidFill>
                <a:srgbClr val="E8B94A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Holding</c:v>
                </c:pt>
                <c:pt idx="1">
                  <c:v>AUM Growth</c:v>
                </c:pt>
                <c:pt idx="2">
                  <c:v>Performance</c:v>
                </c:pt>
                <c:pt idx="3">
                  <c:v>News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32</c:v>
                </c:pt>
                <c:pt idx="1">
                  <c:v>28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B6B5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Established funds</c:v>
                </c:pt>
              </c:strCache>
            </c:strRef>
          </c:tx>
          <c:spPr>
            <a:solidFill>
              <a:srgbClr val="8FBC94"/>
            </a:solidFill>
            <a:ln w="25400" cap="flat">
              <a:solidFill>
                <a:srgbClr val="8FBC9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FBC94"/>
              </a:solidFill>
              <a:ln w="9525" cap="flat">
                <a:solidFill>
                  <a:srgbClr val="8FBC94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22</c:v>
                </c:pt>
                <c:pt idx="1">
                  <c:v>35</c:v>
                </c:pt>
                <c:pt idx="2">
                  <c:v>41</c:v>
                </c:pt>
                <c:pt idx="3">
                  <c:v>55</c:v>
                </c:pt>
                <c:pt idx="4">
                  <c:v>60</c:v>
                </c:pt>
                <c:pt idx="5">
                  <c:v>30</c:v>
                </c:pt>
                <c:pt idx="6">
                  <c:v>48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30</c:v>
                </c:pt>
                <c:pt idx="2">
                  <c:v>42</c:v>
                </c:pt>
                <c:pt idx="3">
                  <c:v>50</c:v>
                </c:pt>
                <c:pt idx="4">
                  <c:v>65</c:v>
                </c:pt>
                <c:pt idx="5">
                  <c:v>25</c:v>
                </c:pt>
                <c:pt idx="6">
                  <c:v>45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Gems X</c:v>
                </c:pt>
              </c:strCache>
            </c:strRef>
          </c:tx>
          <c:spPr>
            <a:solidFill>
              <a:srgbClr val="E8B94A"/>
            </a:solidFill>
            <a:ln w="25400" cap="flat">
              <a:solidFill>
                <a:srgbClr val="E8B9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B94A"/>
              </a:solidFill>
              <a:ln w="9525" cap="flat">
                <a:solidFill>
                  <a:srgbClr val="E8B94A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22</c:v>
                </c:pt>
                <c:pt idx="1">
                  <c:v>35</c:v>
                </c:pt>
                <c:pt idx="2">
                  <c:v>41</c:v>
                </c:pt>
                <c:pt idx="3">
                  <c:v>55</c:v>
                </c:pt>
                <c:pt idx="4">
                  <c:v>60</c:v>
                </c:pt>
                <c:pt idx="5">
                  <c:v>30</c:v>
                </c:pt>
                <c:pt idx="6">
                  <c:v>48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82</c:v>
                </c:pt>
                <c:pt idx="1">
                  <c:v>91</c:v>
                </c:pt>
                <c:pt idx="2">
                  <c:v>87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Hidden Gems</c:v>
                </c:pt>
              </c:strCache>
            </c:strRef>
          </c:tx>
          <c:spPr>
            <a:solidFill>
              <a:srgbClr val="8FBC94"/>
            </a:solidFill>
            <a:ln w="25400" cap="flat">
              <a:solidFill>
                <a:srgbClr val="8FBC9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FBC94"/>
              </a:solidFill>
              <a:ln w="9525" cap="flat">
                <a:solidFill>
                  <a:srgbClr val="8FBC94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22</c:v>
                </c:pt>
                <c:pt idx="1">
                  <c:v>35</c:v>
                </c:pt>
                <c:pt idx="2">
                  <c:v>41</c:v>
                </c:pt>
                <c:pt idx="3">
                  <c:v>55</c:v>
                </c:pt>
                <c:pt idx="4">
                  <c:v>60</c:v>
                </c:pt>
                <c:pt idx="5">
                  <c:v>30</c:v>
                </c:pt>
                <c:pt idx="6">
                  <c:v>48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78</c:v>
                </c:pt>
                <c:pt idx="1">
                  <c:v>90</c:v>
                </c:pt>
                <c:pt idx="2">
                  <c:v>95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Holding conviction (percentile)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AUM growth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566928"/>
            <a:ext cx="822960" cy="822960"/>
          </a:xfrm>
          <a:prstGeom prst="ellipse">
            <a:avLst/>
          </a:prstGeom>
          <a:solidFill>
            <a:srgbClr val="E8B9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490" y="780898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HIDDENGEM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Discovery Engine for Indian Mutual Funds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B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tomorrow's large-caps, before the crowd does.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Shinoy Babru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453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Business Intelligence Analyst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E9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·   SQL   ·   SCIKIT-LEARN   ·   POWER BI   ·   JAVASCRIPT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fund platforms only show you what everyone has already found.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7F7F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9AA6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Fund Apps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funds mainly by trailing returns and star ratings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cluster around funds that are already large and already popular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with strong early fundamentals stay invisible until they're large-cap — after most of the upside is gone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AF2EA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74920" y="1783080"/>
            <a:ext cx="502920" cy="50292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679" y="19138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810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74920" y="246888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4 signals: holding conviction, AUM flow, risk-adjusted performance, and news momentum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funds building genuine conviction before they're "discovered" by the wider market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comes with an itemized, data-backed explanation of exactly why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Signals, One Hidden Gem Score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0–100 blend, built to favor conviction over hype.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DDE5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361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3990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47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Strength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existing investors stay invested, ranked against category peers.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651760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DDE5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5361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13990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74720" y="1947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money is quietly flowing in, versus the fund's own category average.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DDE5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8211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40280" y="30449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0080" y="3593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3867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adjusted for volatility, so a lucky spike can't outrank steady compounding.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91840" y="2880360"/>
            <a:ext cx="2651760" cy="150876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2700">
            <a:solidFill>
              <a:srgbClr val="DDE5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318211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74920" y="30449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474720" y="3593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Momentum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474720" y="3867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analyst and media coverage is accelerating from a low base.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63640" y="1188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Distribution</a:t>
            </a:r>
            <a:endParaRPr lang="en-US" sz="12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080760" y="1463040"/>
          <a:ext cx="26060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 23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from raw data to a product a recruiter can click through.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6404" y="1965960"/>
            <a:ext cx="502920" cy="50292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03580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star schema: funds, NAV history, news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938528" y="249631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061972" y="17373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51176" y="1965960"/>
            <a:ext cx="502920" cy="50292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935" y="209671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35124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153412" y="303580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pandas: percentiles, growth rates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543300" y="249631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666744" y="17373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55948" y="1965960"/>
            <a:ext cx="502920" cy="50292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707" y="209671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39896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758184" y="303580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blended Hidden Gem Score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5148072" y="249631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271516" y="17373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760720" y="1965960"/>
            <a:ext cx="502920" cy="50292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479" y="20967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4668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Layer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362956" y="303580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DAX measures, exec dashboards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6752844" y="249631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6876288" y="17373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65492" y="1965960"/>
            <a:ext cx="502920" cy="50292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251" y="209671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49440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6967728" y="303580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+ SIP calculator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that powers the live dashboard — not a mockup.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Star-Schema Data Warehouse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 as the hub — every dimension and fact table joins through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AF2EA"/>
          </a:solidFill>
          <a:ln w="15875">
            <a:solidFill>
              <a:srgbClr val="8FBC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4051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dim_amc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592885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fund houses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703320" y="12344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AF2EA"/>
          </a:solidFill>
          <a:ln w="15875">
            <a:solidFill>
              <a:srgbClr val="8FBC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324051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dim_category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03320" y="1592885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SEBI categories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49440" y="12344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AF2EA"/>
          </a:solidFill>
          <a:ln w="15875">
            <a:solidFill>
              <a:srgbClr val="8FBC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324051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9440" y="1592885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yrs daily calendar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25880" y="1874520"/>
            <a:ext cx="6492240" cy="0"/>
          </a:xfrm>
          <a:prstGeom prst="line">
            <a:avLst/>
          </a:prstGeom>
          <a:noFill/>
          <a:ln w="19050">
            <a:solidFill>
              <a:srgbClr val="8FBC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874520"/>
            <a:ext cx="0" cy="640080"/>
          </a:xfrm>
          <a:prstGeom prst="line">
            <a:avLst/>
          </a:prstGeom>
          <a:noFill/>
          <a:ln w="19050">
            <a:solidFill>
              <a:srgbClr val="8FBC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51460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EAF2EA"/>
          </a:solidFill>
          <a:ln w="15875">
            <a:solidFill>
              <a:srgbClr val="8FBC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610612"/>
            <a:ext cx="1645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dim_fund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49040" y="2898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tracked schemes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3200400"/>
            <a:ext cx="0" cy="731520"/>
          </a:xfrm>
          <a:prstGeom prst="line">
            <a:avLst/>
          </a:prstGeom>
          <a:noFill/>
          <a:ln w="19050">
            <a:solidFill>
              <a:srgbClr val="2F6B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3931920"/>
            <a:ext cx="5852160" cy="0"/>
          </a:xfrm>
          <a:prstGeom prst="line">
            <a:avLst/>
          </a:prstGeom>
          <a:noFill/>
          <a:ln w="19050">
            <a:solidFill>
              <a:srgbClr val="2F6B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319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F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27932"/>
            <a:ext cx="2377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fact_nav_history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7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23,460 daily NAV rows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83280" y="39319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F6B4F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4027932"/>
            <a:ext cx="2377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fact_news_sentiment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7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sentiment events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39319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F6B4F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027932"/>
            <a:ext cx="2377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fact_fund_scores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0936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7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model output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Fund Earns Hidden Gem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logic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score of 70 or higher out of 100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AUM still below ₹20,000 Cr — the point past which we consider a fund "already discovered"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hold: a high score alone isn't enough if the fund is already a giant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EAF2E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387705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flagged fund ships with a transparent, itemized breakdown of which signals it cleared — not a black-box label.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31920" cy="3429000"/>
          </a:xfrm>
          <a:prstGeom prst="roundRect">
            <a:avLst>
              <a:gd name="adj" fmla="val 24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FROM LIVE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Konkan Rising Bharat Fund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· Moderate Risk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22128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pPr indent="0" marL="0">
              <a:buNone/>
            </a:pPr>
            <a:r>
              <a:rPr lang="en-US" sz="1300" b="1" dirty="0">
                <a:solidFill>
                  <a:srgbClr val="9F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100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holding period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0" y="2880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months (99th pct.)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3209544"/>
            <a:ext cx="3383280" cy="0"/>
          </a:xfrm>
          <a:prstGeom prst="line">
            <a:avLst/>
          </a:prstGeom>
          <a:noFill/>
          <a:ln w="9525">
            <a:solidFill>
              <a:srgbClr val="3A5C4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029200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(YoY)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66560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+86%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3593592"/>
            <a:ext cx="3383280" cy="0"/>
          </a:xfrm>
          <a:prstGeom prst="line">
            <a:avLst/>
          </a:prstGeom>
          <a:noFill/>
          <a:ln w="9525">
            <a:solidFill>
              <a:srgbClr val="3A5C4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029200" y="36484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0" y="36484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₹19,426 Cr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3977640"/>
            <a:ext cx="3383280" cy="0"/>
          </a:xfrm>
          <a:prstGeom prst="line">
            <a:avLst/>
          </a:prstGeom>
          <a:noFill/>
          <a:ln w="9525">
            <a:solidFill>
              <a:srgbClr val="3A5C4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029200" y="4032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4032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Emerging Large-Cap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That Explains Itself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static report — a product a recruiter can click through end to 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5599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84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Radar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23957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scatter of holding conviction vs. AUM momentum — flagged gems glow.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548640" cy="54864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486" y="155996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084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SIP Calculator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291840" y="23957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Groww-style calculator: monthly amount, tenure, and model-implied return, updating live.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1417320"/>
            <a:ext cx="548640" cy="548640"/>
          </a:xfrm>
          <a:prstGeom prst="ellipse">
            <a:avLst/>
          </a:prstGeom>
          <a:solidFill>
            <a:srgbClr val="2F6B4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126" y="155996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084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Explainability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126480" y="23957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breaks down into 4 signals with real numbers, not a black-box verdict.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5720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Radar concept, as a native chart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3200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Radar concept, as a native chart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94360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B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funds    </a:t>
            </a:r>
            <a:pPr algn="r" indent="0" marL="0">
              <a:buNone/>
            </a:pPr>
            <a:r>
              <a:rPr lang="en-US" sz="950" b="1" dirty="0">
                <a:solidFill>
                  <a:srgbClr val="E8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</a:t>
            </a:r>
            <a:endParaRPr lang="en-US" sz="9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3493008"/>
          <a:ext cx="8229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 14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Found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synthetic-but-realistic dataset built to exercise the full pipeline.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B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tracked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6032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B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560320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flagged (10%)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B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663440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Gem score / 100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6656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B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+86%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766560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YoY AUM growth, flagged funds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2F6B4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593592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3736238"/>
            <a:ext cx="263347" cy="26334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17320" y="352044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backtesting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funds using only data available 12 months ago, then check whether flagged Hidden Gems actually outperformed the category average since — the single strongest validation of the model's thesis.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paste into a Projects section.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AF2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 — AI-Powered Mutual Fund Discovery Platform</a:t>
            </a:r>
            <a:pPr indent="0" marL="0">
              <a:buNone/>
            </a:pPr>
            <a:r>
              <a:rPr lang="en-US" sz="12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Python · SQL · scikit-learn · Power BI · JavaScript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star-schema SQL data warehouse (6 tables) modeling 30 mutual funds, 23K+ daily NAV records, and fund-level news sentiment to support both operational queries and BI reporting.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4-factor ML scoring model in Python/scikit-learn (holding-period percentile, category-relative AUM growth, Sharpe-style risk-adjusted return, news momentum) to flag funds building investor conviction before they reach large-cap status.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HTML/CSS/JS dashboard from scratch (no charting libraries) featuring a custom SVG scatter visualization, a live Groww-style SIP calculator, and per-fund explainability breakdowns.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 full Power BI data model and DAX measure library (star schema relationships, YoY growth, category benchmarking) to make the model's output BI-reportable end to end.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HiddenGem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685800"/>
            <a:ext cx="822960" cy="822960"/>
          </a:xfrm>
          <a:prstGeom prst="ellipse">
            <a:avLst/>
          </a:prstGeom>
          <a:solidFill>
            <a:srgbClr val="E8B9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490" y="8997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Shinoy Babru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3584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Business Intelligence Analyst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9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LinkedIn  ·  Portfolio — add your links here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HiddenGem — AI-Powered Mutual Fund Discovery Platform</dc:title>
  <dc:subject>PptxGenJS Presentation</dc:subject>
  <dc:creator>Shinoy Babru</dc:creator>
  <cp:lastModifiedBy>Shinoy Babru</cp:lastModifiedBy>
  <cp:revision>1</cp:revision>
  <dcterms:created xsi:type="dcterms:W3CDTF">2026-07-03T06:57:54Z</dcterms:created>
  <dcterms:modified xsi:type="dcterms:W3CDTF">2026-07-03T06:57:54Z</dcterms:modified>
</cp:coreProperties>
</file>